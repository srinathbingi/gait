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3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14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11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5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9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34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447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22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65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87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27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7144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12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74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27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543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9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A0692-DDEE-4FEC-8E03-B7F2AA5355C8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D4D04-6BEE-45A9-AA0A-3EA7D69E4A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3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639" y="2599278"/>
            <a:ext cx="10515600" cy="163335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9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4900" u="sng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49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Biomechanical Joint Angles via Ensemble Learning</a:t>
            </a:r>
            <a:r>
              <a:rPr lang="en-IN" dirty="0">
                <a:effectLst/>
              </a:rPr>
              <a:t/>
            </a:r>
            <a:br>
              <a:rPr lang="en-IN" dirty="0">
                <a:effectLst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22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176581" y="864427"/>
            <a:ext cx="3176325" cy="17252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8838" y="1957117"/>
            <a:ext cx="10134506" cy="2570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human gait patterns using multivariate sensor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biomechanical relationship between time and joint angle movements.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joint angles to support diagnosis and rehabilitation in healthcare.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abnormal gait signatures for early detection of mobility issues.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the interpretation of movement data for clinical and sports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61562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525624" y="914400"/>
            <a:ext cx="3610466" cy="18853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DATA SET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5087" y="1507491"/>
            <a:ext cx="1131405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sourced from the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(Multivariate Gait Data).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contains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181,800 rows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capturing real-world human gait movement across various conditions.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include: subject, condition, replication, leg, joint, time, and angle.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using wearable sensors placed on different joints during gait cycles.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angle column (target) represents joint movement and is continuous (regression).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Covers multiple experimental conditions (e.g., flat, incline) for diverse motion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advanced time-series and multivariate modeling for predictive biomechanics.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18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27281" y="669303"/>
            <a:ext cx="4666269" cy="197963"/>
          </a:xfrm>
        </p:spPr>
        <p:txBody>
          <a:bodyPr>
            <a:noAutofit/>
          </a:bodyPr>
          <a:lstStyle/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6750" y="1278652"/>
            <a:ext cx="1115446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the IQR method to detect outliers in the angle column and identified 10,762 extreme values.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outliers using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RobustScaler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minimize their effect while retaining the core data structure.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right skewness in the angle column with a skew value of 1.38, indicating asymmetric distribution.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Considered log and Box-Cox transformations but retained robust scaling to preserve variance and minimize distortion.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One-Hot Encoding to categorical features and used 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RobustScaler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angle column for uniform scaling.</a:t>
            </a:r>
          </a:p>
        </p:txBody>
      </p:sp>
    </p:spTree>
    <p:extLst>
      <p:ext uri="{BB962C8B-B14F-4D97-AF65-F5344CB8AC3E}">
        <p14:creationId xmlns:p14="http://schemas.microsoft.com/office/powerpoint/2010/main" val="370806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875175" y="666191"/>
            <a:ext cx="6344240" cy="118503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23188" y="1015388"/>
            <a:ext cx="11048214" cy="15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Angle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by Condition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walking conditions affect the angle variation significantly.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1 shows higher average angles compared to others.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262" y="2801123"/>
            <a:ext cx="5020066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84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1933" y="467258"/>
            <a:ext cx="11148859" cy="15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Angle Over Time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joint angle fluctuates rhythmically over time intervals.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angles occur around mid-time, indicating stride midpoint dynamics.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288" y="2244942"/>
            <a:ext cx="4855474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5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36750" y="643730"/>
            <a:ext cx="8536952" cy="15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by Joint Type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 joints demonstrate wider angle ranges compared to knee and ankle.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values differ clearly between joint types, showing motion diversity.</a:t>
            </a:r>
            <a:endParaRPr kumimoji="0" lang="en-US" alt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508" y="2518319"/>
            <a:ext cx="4965202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80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42984" y="338787"/>
            <a:ext cx="10127226" cy="1555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Barplot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 Angle by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Joint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Hip joints show the highest average angles among all joint types.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Knee and ankle joints exhibit relatively consistent lower mean angles.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860" y="2424052"/>
            <a:ext cx="4855474" cy="35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1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0070" y="433816"/>
            <a:ext cx="10048973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IN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endParaRPr lang="en-IN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Angle is weakly correlated with time, indicating temporal variability.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Subject, leg, and joint are uncorrelated with angle (categorical encoded numerically).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14" y="1832566"/>
            <a:ext cx="5020066" cy="466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3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48896" y="659876"/>
            <a:ext cx="4713403" cy="434441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76484" y="1729523"/>
            <a:ext cx="1065822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 like subject, condition, replication, leg, and joint were treated as discrete variables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applied directly using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fit_transform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categorical data into binary format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RobustScaler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used to scale numeric features and reduce the effect of outliers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angle was used without any scaling or transformation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encoded and scaled features were manually combined before model training without using a pipeline.</a:t>
            </a:r>
            <a:endParaRPr kumimoji="0" lang="en-US" alt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0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027825" y="587518"/>
            <a:ext cx="9144000" cy="34821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0666" y="1747858"/>
            <a:ext cx="10836913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for its ability to handle large data, outliers, and complex patterns effectively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regularization internally, reducing overfitting and improving generalization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was trained using the transformed features and the target variable without a pipeline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ensured reliable evaluation of the model on unseen data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was assessed using R² and RMSE to validate prediction quality.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484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26011" y="596489"/>
            <a:ext cx="9144000" cy="34821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38575" y="1750068"/>
            <a:ext cx="1084513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explained over 97% variance in joint angle predictions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low for both training (2.643) and testing (2.693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testing scores were nearly identical, showing strong generalization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actual values aligned closely along the diagonal line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normally distributed around zero, indicating low bias.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80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028294" y="768567"/>
            <a:ext cx="4879199" cy="823912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Predicted Vs Actual Angle Plots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70" y="2500276"/>
            <a:ext cx="2858666" cy="2879725"/>
          </a:xfrm>
        </p:spPr>
      </p:pic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458564" y="1070225"/>
            <a:ext cx="4865554" cy="823912"/>
          </a:xfrm>
        </p:spPr>
        <p:txBody>
          <a:bodyPr>
            <a:normAutofit/>
          </a:bodyPr>
          <a:lstStyle/>
          <a:p>
            <a:r>
              <a:rPr lang="en-I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to Residuals of </a:t>
            </a:r>
            <a:r>
              <a:rPr lang="en-IN" sz="2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IN" sz="2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Predicted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007" y="2500275"/>
            <a:ext cx="4022822" cy="2879725"/>
          </a:xfrm>
        </p:spPr>
      </p:pic>
    </p:spTree>
    <p:extLst>
      <p:ext uri="{BB962C8B-B14F-4D97-AF65-F5344CB8AC3E}">
        <p14:creationId xmlns:p14="http://schemas.microsoft.com/office/powerpoint/2010/main" val="190097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85927" y="693967"/>
            <a:ext cx="9144000" cy="34821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6596" y="1797614"/>
            <a:ext cx="114117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highly accurate predictions on the gait dataset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significantly improved model performance and stability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achieved over 97% R² score, indicating excellent explanatory power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values confirmed minimal prediction errors across training and testing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showed a normal distribution, proving unbiased predictions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is reliable, generalizable, and suitable for real-time joint angle forecasting.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24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494" y="2325901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813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115</TotalTime>
  <Words>627</Words>
  <Application>Microsoft Office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Courier New</vt:lpstr>
      <vt:lpstr>Rockwell</vt:lpstr>
      <vt:lpstr>Times New Roman</vt:lpstr>
      <vt:lpstr>Wingdings</vt:lpstr>
      <vt:lpstr>Damask</vt:lpstr>
      <vt:lpstr>Predictive Modeling of Biomechanical Joint Angles via Ensemble Learning  </vt:lpstr>
      <vt:lpstr>INTRODUCTION</vt:lpstr>
      <vt:lpstr>ABOUT DATA SET</vt:lpstr>
      <vt:lpstr>DATA CLEANING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DATA PRE-PROCESSING</vt:lpstr>
      <vt:lpstr>MODEL DEPLOYMENT</vt:lpstr>
      <vt:lpstr>MODEL EVALUATION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Hello</dc:creator>
  <cp:lastModifiedBy>Hello</cp:lastModifiedBy>
  <cp:revision>15</cp:revision>
  <dcterms:created xsi:type="dcterms:W3CDTF">2025-07-14T12:53:36Z</dcterms:created>
  <dcterms:modified xsi:type="dcterms:W3CDTF">2025-07-18T20:34:16Z</dcterms:modified>
</cp:coreProperties>
</file>